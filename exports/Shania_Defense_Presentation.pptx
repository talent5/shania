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Explainable Machine Learning Framework for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All-Cause Readmission Prediction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among Acute Decompensated Heart Failure Patients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Defense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Shania ...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 Kwanga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Analytics &amp; Informatics — University of Zimbabwe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Background, Problem, Motivation &amp; Gap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Research Questions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CRISP-DM, Data, Preprocessing, Models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Model Design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 Integration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Background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Decompensated Heart Failure (ADHF) is a leading cause of hospitalisation globally, with 30-day readmission rates of 20–25%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 indicate poor outcomes, increased mortality, and enormous financial burden on healthcare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settings (e.g., Sub-Saharan Africa) face heightened impact due to limited bed capacity, follow-up infrastructure, and specialist coverage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like the LACE score are widely used but have limited predictive accuracy for ADHF-specific populations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improved prediction, but adoption is limited by lack of transparency ('black box' problem)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Introduction: Motivation &amp;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1: ADHF Specificity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target general HF or mixed populations, not ADHF-specific cohorts with unique biomarker and frailty profiles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2: Class Imbalance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 ignore the 20–25% readmission rate, leading to poor recall for high-risk patients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3: Explainability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cannot trust 'black box' predictions — SHAP and XAI are needed for clinical adoption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ADHF-specific machine learning pipeline for 30-day readmission prediction using CRISP-DM methodology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robust class-imbalance handling (SMOTE + stratified sampling) for improved high-risk patient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SHAP-based explainability for both global feature importance and patient-level risk decomposition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benchmark ML models (Logistic Regression, Random Forest, XGBoost) against the conventional LACE score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deployable clinical decision-support prototype with a Flask API and React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How can machine learning models be designed and trained to predict 30-day readmission risk specifically for ADHF patients using structured clinical data?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To what extent does SMOTE-based class-imbalance correction improve recall and detection of high-risk readmission cases compared to standard training?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Can SHAP-based explanations provide clinically plausible and actionable interpretability that supports discharge planning?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How does the proposed explainable ML framework compare against the conventional LACE score in predictive performance?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RQ5: Can the complete system be operationalised as a deployable prototype suitable for resource-constrained healthcare settings?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Methodology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 &amp; Experimental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CRISP-DM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12801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clinical problem, LACE limitations, goals for SHAP &amp; imbalance handling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051560"/>
            <a:ext cx="12801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1783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37744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MIMIC-III &amp; eICU, identify ADHF cohorts and predictor variables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12801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1783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scaling, encoding, SMOTE imbalance correction, leakage prevention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51560"/>
            <a:ext cx="12801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2064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1783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37744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LR, RF, XGBoost with Bayesian CV hyperparameter optimisation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12801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1783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37744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suite: AUROC, AUPRC, Recall, F1; SHAP fidelity &amp; plausibility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1051560"/>
            <a:ext cx="1280160" cy="3291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1188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0960" y="1783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2377440"/>
            <a:ext cx="1188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+ React prototype for authenticated clinical decision support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Data Sources &amp;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MIMIC-III and eICU — two large, de-identified critical-care databases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30-day all-cause readmission (binary: readmitted within 30 days or not)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Variables (4 domains):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Data Sources &amp;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196596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965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ethnicity, length of stay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196596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51560"/>
            <a:ext cx="1965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Physiological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6459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blood pressure, O₂ saturation, weight 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196596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1965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Biomarkers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BNP, creatinine, BUN, electrolytes, troponin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1051560"/>
            <a:ext cx="1965960" cy="21031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051560"/>
            <a:ext cx="1965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2344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Comorbidity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164592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Charlson/Elixhauser indices, frailty scores, functional independence, mental-health flags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ADHF-specific cohort: ICD-coded ADHF diagnosis, age ≥ 18, survived index admission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 guided by literature (Iwata et al., Sudharshan et al., Akkineni et al., Okoye et al.) — deliberately richer than the basic features used in prior work (Mpofu et al.)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Data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treatment: median imputation (numerical), mode (categorical) with missingness flags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and winsorisation using clinically appropriate thresholds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summary statistics, interaction terms, LACE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(one-hot) and numerical scaling (StandardScaler)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correction: SMOTE + stratified undersampling applied to training set only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prevention: ALL transformations fitted on training data only, then applied to test/validation 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train-test split with 5-fold cross-validation for hyperparameter tuning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Model Selection &amp;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models: Logistic Regression (baseline), Random Forest, XGBoost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Non-ML benchmark: LACE score (conventional clinical tool for comparison)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engine: Random Forest — chosen for robustness with tabular clinical data, non-linear interaction capture, and stable performance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Bayesian / grid-search with 5-fold cross-validation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AUROC, AUPRC, Recall, F1-score, Precision, Accuracy — prioritising recall and AUROC for imbalanced clinical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evaluation: SHAP fidelity, consistency, and clinical plausibility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run with fixed random seeds for full reproducibility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&amp; Model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Pipeline &amp; Implementation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C:\Users\Takunda Mundwa\Desktop\School Projects\Shania\figures\chapter4\figure_4_1_overall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Data Ingestion → Preprocessing → Prediction → Explainability → Clinical Output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Model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C:\Users\Takunda Mundwa\Desktop\School Projects\Shania\figures\chapter4\figure_4_2_model_desig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multi-model strategy with LACE benchmark and SHAP interpretability layer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 (SHAP)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" name="Image 0" descr="C:\Users\Takunda Mundwa\Desktop\School Projects\Shania\figures\chapter4\figure_4_3_xai_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45720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051560"/>
            <a:ext cx="365760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1208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Explanations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1417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feature-impact summaries identifying dominant risk drivers across the entire cohort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0" y="2377440"/>
            <a:ext cx="3657600" cy="1188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Explanations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12080" y="2743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risk decomposition showing how each feature pushes prediction from baseline risk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formula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φᵢ = Σ [|S|!(|F|-|S|-1)!/|F|!] × [f(S∪{i}) − f(S)]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API (Python) with scikit-learn model serving, preprocessing, and prediction logging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(JavaScript) for clinician-facing interaction with role-aware access control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Trained Random Forest (best_estimator_) serialised with joblib for inference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Docker containerisation, supporting Render and Vercel hosting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for risk prediction, SHAP explanation retrieval, and patient history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JWT-based with separate clinician and admin roles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pipelines (imputation, scaling, SMOTE) saved and applied consistently at inference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155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 with role-based access control (clinician / admin)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8470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list, search, and access risk scores and history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7860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clinical variables, get real-time readmission probability from Random Forest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3101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Explanations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474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global feature importance and patient-level waterfall/force plots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0416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&amp; Audit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206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predictions logged with timestamps, clinician annotations, and audit trail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Explainability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Comparative Model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learners (Random Forest, XGBoost) demonstrated stronger discrimination than linear baseline under ADHF feature heterogeneity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as primary predictive engine — robust to mixed data types and non-linear interactions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SMOTE-based imbalance correction improved recall for high-risk patients compared to standard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consistently outperformed the conventional LACE score benchmark across all evaluation metrics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prioritised: AUROC (robust to imbalance), Recall (minimise missed high-risk patients), and AUPRC (precision-recall balance)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Explainability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 analysis identified strong contributions from established heart-failure risk factors: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SHAP Explainability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burden (BNP, creatinine, troponin)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function indicators (BUN, electrolytes)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Hemodynamic instability (vital signs at discharge)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&amp; frailty profiles (Charlson index, functional scores)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 provided patient-specific risk decomposition — distinguishing risk-increasing vs. protective factors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directionally consistent with established clinical evidence on ADHF readmission drivers (Zhang et al., Luo et al., Zang et al.)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SHAP explanations confirmed that the model learned medically plausible patterns, not spurious correlations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Implications: Low-Resource Settings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executes on standard institutional hardware — no specialised HPC infrastructure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preprocessing, efficient ensemble inference, and post-hoc SHAP generation keep computational demands 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 ensures reproducible deployment across environments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React stack is lightweight, well-documented, and suitable for hospital IT teams with limited resources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practical deployment pathways for hospitals and training institutions in Sub-Saharan Africa and similar contexts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and predictive utility are NOT mutually exclusive — SHAP integration preserves performance while enabling auditability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LACE benchmarking strengthens translational relevance by framing improvement against a familiar clinical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strengths: leakage-aware preprocessing, imbalance-sensitive training, end-to-end traceability from architecture to interface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challenges: external validation on local hospital cohorts (e.g., Zimbabwean data), calibration analysis under shifting prevalence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prospective workflow studies to measure clinician adoption effects; fairness auditing across subgroups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explainable ML framework for 30-day ADHF readmission prediction using CRISP-DM methodology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SMOTE-based imbalance correction and SHAP-based interpretability as core design requirements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tree-based models (Random Forest) outperform conventional LACE scores for ADHF-specific prediction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deployable clinical decision-support prototype (Flask + React) suitable for resource-constrained settings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that explainable AI can provide clinically actionable risk stratification with transparent justification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foundation for future validation on local Zimbabwean hospital datasets and prospective deployment studies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(2021) — ML in hospital readmission prediction: a scoping review. BMC Med. Res. Methodol.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Sabouri et al. (2023) — ML based readmission and mortality prediction in HF patients. Sci. Rep.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Grossman Liu et al. (2021) — Published readmission models: a critical appraisal. BMJ Open.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(2024) — Explainable ML for 30-day readmission in acute HF. iScience.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 (2022) — ML for readmission risk among the frail: XAI for healthcare. Patterns.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Mpofu et al. (2024) — Predictive model for hospital readmission of diabetic patients. IEOM.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Shearer (2000) — The CRISP-DM model: the new blueprint for data mining.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Allgaier et al. (2023) — Explainability power of ML in healthcare: systematic review. AIME.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Explainable ML for ADHF Readmission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0" y="2377440"/>
            <a:ext cx="1828800" cy="457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Shania — Department of Analytics &amp; Informatics, University of Zimbabwe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ML for ADHF Readmission Prediction</dc:title>
  <dc:subject>PptxGenJS Presentation</dc:subject>
  <dc:creator>Shania Final Year Project</dc:creator>
  <cp:lastModifiedBy>Shania Final Year Project</cp:lastModifiedBy>
  <cp:revision>1</cp:revision>
  <dcterms:created xsi:type="dcterms:W3CDTF">2026-05-31T08:15:05Z</dcterms:created>
  <dcterms:modified xsi:type="dcterms:W3CDTF">2026-05-31T08:15:05Z</dcterms:modified>
</cp:coreProperties>
</file>