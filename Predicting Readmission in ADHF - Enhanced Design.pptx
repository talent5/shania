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</p:embeddedFont>
    <p:embeddedFont>
      <p:font typeface="Playfair Display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47750" y="875704"/>
            <a:ext cx="33432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CAPSTONE PROJECT 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47750" y="1256704"/>
            <a:ext cx="10571321" cy="234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PREDICTING HOSPITAL READMISSION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 ACUTE DECOMPENSATED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HEART FAILURE PATIENTS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USING MACHINE LEARNING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432101"/>
            <a:ext cx="4495800" cy="17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Student: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Shania K T Ruwende (R223747S)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Supervisor: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Dr. Kwangwa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programme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Data science 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and Informatics (HDS)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University of Zimbabwe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047750" y="4432101"/>
            <a:ext cx="47625" cy="1340643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885182"/>
            <a:ext cx="514350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885182"/>
            <a:ext cx="5143500" cy="21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Presentation Roadmap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09650" y="3170932"/>
            <a:ext cx="47405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Part 1: Foundation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170932"/>
            <a:ext cx="474059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Part 2: Execution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318998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295400" y="354145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390650" y="354240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Introduction &amp; Challenges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295400" y="38157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390650" y="381669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295400" y="40900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390650" y="409098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Research Questions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95400" y="43643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90650" y="436527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18998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010400" y="354145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05650" y="354240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Literature &amp; Gaps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010400" y="38157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105650" y="381669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Functionality (UML)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010400" y="40900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105650" y="409098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Methodology Pipeline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010400" y="43643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105650" y="436527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Progress &amp; 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 </a:t>
            </a:r>
            <a:r>
              <a:rPr lang="en-US" sz="3300" b="1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 </a:t>
            </a: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648400" y="974625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0" y="4656683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0" y="4656683"/>
            <a:ext cx="666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58500" y="465668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009650" y="2925216"/>
            <a:ext cx="29403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Background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009650" y="3249066"/>
            <a:ext cx="28005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Acute Decompensated Heart Failure (ADHF) is a critical condition driving hospital readmission rates above </a:t>
            </a:r>
            <a:r>
              <a:rPr lang="en-US" sz="120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20% within 30 days.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724400" y="2925216"/>
            <a:ext cx="29403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724400" y="3249066"/>
            <a:ext cx="2800500" cy="10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Current tools like the LACE index are generic. They fail to capture the </a:t>
            </a:r>
            <a:r>
              <a:rPr lang="en-US" sz="120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acute, episode-specific</a:t>
            </a: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nuances of heart failure.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39150" y="2925216"/>
            <a:ext cx="29403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Key Challenges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534400" y="324811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629650" y="3249066"/>
            <a:ext cx="2609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High Dimensionality:</a:t>
            </a: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 Complex medical data.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534400" y="37966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629650" y="3797650"/>
            <a:ext cx="28956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Class Imbalance:</a:t>
            </a: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 Readmissions are "rare events".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534400" y="43452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629575" y="4416127"/>
            <a:ext cx="2610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Black Box Models:</a:t>
            </a: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 Lack of clinical trust.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Questions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605" y="2402286"/>
            <a:ext cx="228600" cy="365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605" y="3010290"/>
            <a:ext cx="228600" cy="365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605" y="3673026"/>
            <a:ext cx="228600" cy="365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605" y="4335762"/>
            <a:ext cx="228600" cy="36567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7C7B2-CEE8-4802-B1D8-81FE9CE2172A}"/>
              </a:ext>
            </a:extLst>
          </p:cNvPr>
          <p:cNvSpPr txBox="1"/>
          <p:nvPr/>
        </p:nvSpPr>
        <p:spPr>
          <a:xfrm>
            <a:off x="1572909" y="1993204"/>
            <a:ext cx="884350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400" b="1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RQ1: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 Which machine learning algorithms yield the highest predictive accuracy for ADHF readmission?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400" b="1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RQ2: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 What specific clinical features are most significant for predicting ADHF readmission risk?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400" b="1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RQ3: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 How can Explainable AI be implemented to interpret model decisions for clinicians?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pPr rtl="0">
              <a:buNone/>
            </a:pPr>
            <a:r>
              <a:rPr lang="en-US" sz="1400" b="1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RQ4: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Open Sans" panose="020F0502020204030204" pitchFamily="34" charset="0"/>
              </a:rPr>
              <a:t> To what extent does the proposed model outperform existing scoring systems like LACE?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ZW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55664"/>
            <a:ext cx="5286375" cy="138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455664"/>
            <a:ext cx="5286375" cy="138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4124325"/>
            <a:ext cx="5286375" cy="138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124325"/>
            <a:ext cx="5286375" cy="138291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Objectives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1009650" y="2741414"/>
            <a:ext cx="489061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1. Train a Model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09650" y="3065264"/>
            <a:ext cx="46577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Develop algorithms (XGBoost, Random Forest) specifically on ADHF datasets to predict 30-day readmission.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581775" y="2741414"/>
            <a:ext cx="489061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2. Determine Predictors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581775" y="3065264"/>
            <a:ext cx="4657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Identify critical clinical features (</a:t>
            </a:r>
            <a:r>
              <a:rPr lang="en-US" sz="120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for example</a:t>
            </a: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BNP levels, congestion) driving risk.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09650" y="4410075"/>
            <a:ext cx="489061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3. Implement XAI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009650" y="4733925"/>
            <a:ext cx="46577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Integrate SHAP values to make the model transparent and trustworthy for clinicians.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81775" y="4410075"/>
            <a:ext cx="489061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4. Evaluate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581775" y="4733925"/>
            <a:ext cx="46577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Benchmark against traditional scores using AUC-ROC metrics.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08" y="48101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2685305"/>
            <a:ext cx="3524250" cy="122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0" y="2685305"/>
            <a:ext cx="3524250" cy="122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4052887"/>
            <a:ext cx="3524250" cy="122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33875" y="4052887"/>
            <a:ext cx="3524250" cy="122470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89950" y="3493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</a:t>
            </a:r>
            <a:r>
              <a:rPr lang="en-US" sz="3300" b="1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review and </a:t>
            </a: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Gaps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866775" y="2828180"/>
            <a:ext cx="31813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SPECIFICITY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3087141"/>
            <a:ext cx="334041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Sabouri et al. (2023)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3410991"/>
            <a:ext cx="318135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M outperforms stats.</a:t>
            </a:r>
            <a:endParaRPr dirty="0"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3624262"/>
            <a:ext cx="3181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GAP: Lacks ADHF acute focus.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533900" y="2828180"/>
            <a:ext cx="31813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TECHNIQUE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063333" y="3087141"/>
            <a:ext cx="2281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Zhao et al. (2020)</a:t>
            </a:r>
            <a:endParaRPr dirty="0"/>
          </a:p>
        </p:txBody>
      </p:sp>
      <p:sp>
        <p:nvSpPr>
          <p:cNvPr id="197" name="Google Shape;197;p18"/>
          <p:cNvSpPr txBox="1"/>
          <p:nvPr/>
        </p:nvSpPr>
        <p:spPr>
          <a:xfrm>
            <a:off x="4533900" y="3410991"/>
            <a:ext cx="31813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SMOTE for rare events.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533900" y="3624262"/>
            <a:ext cx="3181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GAP: Not tested on clinical ADHF data.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8201025" y="2828180"/>
            <a:ext cx="31813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TRUST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201025" y="3087141"/>
            <a:ext cx="334041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Salih et al. (202)</a:t>
            </a:r>
            <a:endParaRPr dirty="0"/>
          </a:p>
        </p:txBody>
      </p:sp>
      <p:sp>
        <p:nvSpPr>
          <p:cNvPr id="201" name="Google Shape;201;p18"/>
          <p:cNvSpPr txBox="1"/>
          <p:nvPr/>
        </p:nvSpPr>
        <p:spPr>
          <a:xfrm>
            <a:off x="8201025" y="3410991"/>
            <a:ext cx="31813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SHAP is essential.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201025" y="3624262"/>
            <a:ext cx="3181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GAP: Lack of functional prototypes.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66775" y="4195762"/>
            <a:ext cx="31813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LOCAL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66775" y="4454723"/>
            <a:ext cx="334041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Mpofu et al. (2024)</a:t>
            </a:r>
            <a:endParaRPr dirty="0"/>
          </a:p>
        </p:txBody>
      </p:sp>
      <p:sp>
        <p:nvSpPr>
          <p:cNvPr id="205" name="Google Shape;205;p18"/>
          <p:cNvSpPr txBox="1"/>
          <p:nvPr/>
        </p:nvSpPr>
        <p:spPr>
          <a:xfrm>
            <a:off x="866775" y="4778573"/>
            <a:ext cx="31813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ML feasible in Zimbabwe.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866775" y="4991844"/>
            <a:ext cx="3181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GAP: Diabetes focus, not Heart Failure.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4533900" y="4195762"/>
            <a:ext cx="31813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8C00"/>
                </a:solidFill>
                <a:latin typeface="Inter"/>
                <a:ea typeface="Inter"/>
                <a:cs typeface="Inter"/>
                <a:sym typeface="Inter"/>
              </a:rPr>
              <a:t>SOCIAL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533900" y="4454723"/>
            <a:ext cx="334041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Chopera et al. (2021)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4533900" y="4778573"/>
            <a:ext cx="31813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Psychosocial drivers.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4533900" y="4991844"/>
            <a:ext cx="3181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GAP: Not quantified in ML models.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2AA643-61E8-A35D-C643-864F8BA0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595219"/>
              </p:ext>
            </p:extLst>
          </p:nvPr>
        </p:nvGraphicFramePr>
        <p:xfrm>
          <a:off x="666749" y="1353820"/>
          <a:ext cx="9556144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9036">
                  <a:extLst>
                    <a:ext uri="{9D8B030D-6E8A-4147-A177-3AD203B41FA5}">
                      <a16:colId xmlns:a16="http://schemas.microsoft.com/office/drawing/2014/main" val="1987350044"/>
                    </a:ext>
                  </a:extLst>
                </a:gridCol>
                <a:gridCol w="2389036">
                  <a:extLst>
                    <a:ext uri="{9D8B030D-6E8A-4147-A177-3AD203B41FA5}">
                      <a16:colId xmlns:a16="http://schemas.microsoft.com/office/drawing/2014/main" val="457014458"/>
                    </a:ext>
                  </a:extLst>
                </a:gridCol>
                <a:gridCol w="2389036">
                  <a:extLst>
                    <a:ext uri="{9D8B030D-6E8A-4147-A177-3AD203B41FA5}">
                      <a16:colId xmlns:a16="http://schemas.microsoft.com/office/drawing/2014/main" val="230370833"/>
                    </a:ext>
                  </a:extLst>
                </a:gridCol>
                <a:gridCol w="2389036">
                  <a:extLst>
                    <a:ext uri="{9D8B030D-6E8A-4147-A177-3AD203B41FA5}">
                      <a16:colId xmlns:a16="http://schemas.microsoft.com/office/drawing/2014/main" val="3309867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W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/>
                        <a:t>GAP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88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Sabouri et al. (2023)</a:t>
                      </a:r>
                      <a:endParaRPr lang="en-ZW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Machine learning based readmission... in heart failure patients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. Sci. Rep</a:t>
                      </a:r>
                      <a:endParaRPr lang="en-ZW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Machine Learning methods out performs statistics.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Lacks ADHF Acute 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90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Zhao et al. (2020)</a:t>
                      </a:r>
                      <a:endParaRPr lang="en-ZW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A Novel Mixed Sampling Algorithm for Imbalanced Data Based on </a:t>
                      </a:r>
                      <a:r>
                        <a:rPr lang="en-US" sz="1400" b="0" i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XGBoost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. Wireless Sensor Networks.</a:t>
                      </a:r>
                      <a:endParaRPr lang="en-ZW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SMOTE can be used for rare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Not tested on clinical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20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Mpofu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Predicting Model for Hospital Readmission of Diabetic Patients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. IEOM Society International.</a:t>
                      </a:r>
                      <a:endParaRPr lang="en-ZW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Machine learning is feasible in </a:t>
                      </a:r>
                      <a:r>
                        <a:rPr lang="en-ZW" dirty="0" err="1">
                          <a:solidFill>
                            <a:schemeClr val="tx1"/>
                          </a:solidFill>
                          <a:latin typeface="+mn-lt"/>
                        </a:rPr>
                        <a:t>zimbabwe</a:t>
                      </a:r>
                      <a:endParaRPr lang="en-ZW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It focuses on Diabetes not heart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8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Salih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A Perspective on Explainable Artificial Intelligence Methods: SHAP and LIME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. Adv. </a:t>
                      </a:r>
                      <a:r>
                        <a:rPr lang="en-US" sz="1400" b="0" i="0" u="none" strike="noStrike" cap="none" dirty="0" err="1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Intell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Inter"/>
                          <a:cs typeface="Inter"/>
                          <a:sym typeface="Inter"/>
                        </a:rPr>
                        <a:t>. Syst.</a:t>
                      </a:r>
                      <a:endParaRPr lang="en-ZW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SHAP is essential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W" dirty="0">
                          <a:solidFill>
                            <a:schemeClr val="tx1"/>
                          </a:solidFill>
                          <a:latin typeface="+mn-lt"/>
                        </a:rPr>
                        <a:t>Lack of Functional prototypes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8896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2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666750" y="345475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System Design: </a:t>
            </a:r>
            <a:r>
              <a:rPr lang="en-US" sz="3150" b="1">
                <a:solidFill>
                  <a:srgbClr val="0369A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sequence Diagram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19" title="seq diagram.png"/>
          <p:cNvPicPr preferRelativeResize="0"/>
          <p:nvPr/>
        </p:nvPicPr>
        <p:blipFill rotWithShape="1">
          <a:blip r:embed="rId4">
            <a:alphaModFix/>
          </a:blip>
          <a:srcRect t="768" b="768"/>
          <a:stretch/>
        </p:blipFill>
        <p:spPr>
          <a:xfrm>
            <a:off x="666750" y="2033050"/>
            <a:ext cx="10343823" cy="430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1073600" y="1316450"/>
            <a:ext cx="64701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Illustrating the interactions between the Clinical User and the System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0320" y="220138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66" y="212994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7437" y="212994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00982" y="212996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3135510"/>
            <a:ext cx="2388840" cy="207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89870" y="3135510"/>
            <a:ext cx="2388840" cy="207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12991" y="3135510"/>
            <a:ext cx="2388840" cy="207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36112" y="3135510"/>
            <a:ext cx="2388840" cy="207272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 Pipeline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876300" y="2801575"/>
            <a:ext cx="10096500" cy="38100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827056" y="3678882"/>
            <a:ext cx="206822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Data Source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76300" y="4012257"/>
            <a:ext cx="19698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UCI ML Repository </a:t>
            </a:r>
            <a:r>
              <a:rPr lang="en-US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05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MIMIC-III.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 Filtered for heart failure ICD codes.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3650177" y="3678882"/>
            <a:ext cx="206822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3699420" y="4012257"/>
            <a:ext cx="1969800" cy="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Cleaning, Mean Imputation </a:t>
            </a:r>
            <a:r>
              <a:rPr lang="en-US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050" b="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SMOTE</a:t>
            </a:r>
            <a:r>
              <a:rPr lang="en-US" sz="1050" b="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 to address class imbalance.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473297" y="3678882"/>
            <a:ext cx="206822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Training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522541" y="4012257"/>
            <a:ext cx="1969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implementing</a:t>
            </a:r>
            <a:r>
              <a:rPr lang="en-US" sz="105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i="0" u="none" strike="noStrike" cap="none" dirty="0" err="1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1050" i="0" u="none" strike="noStrike" cap="none" dirty="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050" i="0" u="none" strike="noStrike" cap="none" dirty="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Random Forest cla</a:t>
            </a:r>
            <a:r>
              <a:rPr lang="en-US" sz="1050" b="0" i="0" u="none" strike="noStrike" cap="none" dirty="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ssifiers with Cross-Validation.</a:t>
            </a:r>
            <a:endParaRPr dirty="0"/>
          </a:p>
        </p:txBody>
      </p:sp>
      <p:sp>
        <p:nvSpPr>
          <p:cNvPr id="244" name="Google Shape;244;p20"/>
          <p:cNvSpPr txBox="1"/>
          <p:nvPr/>
        </p:nvSpPr>
        <p:spPr>
          <a:xfrm>
            <a:off x="9296418" y="3678882"/>
            <a:ext cx="206822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9345662" y="4012257"/>
            <a:ext cx="1969800" cy="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Testing via AUC-ROC, Recall, and generating </a:t>
            </a:r>
            <a:r>
              <a:rPr lang="en-US" sz="1050" b="1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SHAP </a:t>
            </a:r>
            <a:r>
              <a:rPr lang="en-US" sz="1050" b="0" i="0" u="none" strike="noStrike" cap="non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explanations.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Progress Made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293935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1247775" y="2851844"/>
            <a:ext cx="3400425" cy="40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Completed review of 30+ papers (Sabouri, Salih, etc.).</a:t>
            </a:r>
            <a:endParaRPr/>
          </a:p>
        </p:txBody>
      </p:sp>
      <p:pic>
        <p:nvPicPr>
          <p:cNvPr id="256" name="Google Shape;25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3187" y="293935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6824662" y="2851844"/>
            <a:ext cx="3629025" cy="40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Gap Identification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Identified lack of explainable, ADHF-specific local models.</a:t>
            </a:r>
            <a:endParaRPr/>
          </a:p>
        </p:txBody>
      </p:sp>
      <p:pic>
        <p:nvPicPr>
          <p:cNvPr id="258" name="Google Shape;25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86700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1247775" y="3779490"/>
            <a:ext cx="358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Data Selection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Selected UCI </a:t>
            </a:r>
            <a:r>
              <a:rPr lang="en-US" sz="1200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 MIMIC-III datasets; defined filtering logic.</a:t>
            </a:r>
            <a:endParaRPr/>
          </a:p>
        </p:txBody>
      </p:sp>
      <p:pic>
        <p:nvPicPr>
          <p:cNvPr id="260" name="Google Shape;26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53187" y="386700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6881812" y="3779490"/>
            <a:ext cx="3857625" cy="40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Algorithm Selection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Chose XGBoost for accuracy vs. Logistic Regression baseline.</a:t>
            </a:r>
            <a:endParaRPr/>
          </a:p>
        </p:txBody>
      </p:sp>
      <p:pic>
        <p:nvPicPr>
          <p:cNvPr id="262" name="Google Shape;26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79464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1304925" y="4707135"/>
            <a:ext cx="3105150" cy="40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System Design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Created UML Use Case, DFDs, and Survey Paper.</a:t>
            </a:r>
            <a:endParaRPr/>
          </a:p>
        </p:txBody>
      </p:sp>
      <p:pic>
        <p:nvPicPr>
          <p:cNvPr id="264" name="Google Shape;26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53187" y="479464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6796087" y="4707135"/>
            <a:ext cx="3219450" cy="40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Survey Paper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Drafted comprehensive survey on ADHF prediction.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015579"/>
            <a:ext cx="8572500" cy="2763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0" y="4007941"/>
            <a:ext cx="2667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95287" y="5160466"/>
            <a:ext cx="114014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66750" y="5550991"/>
            <a:ext cx="10858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77777"/>
                </a:solidFill>
                <a:latin typeface="Inter"/>
                <a:ea typeface="Inter"/>
                <a:cs typeface="Inter"/>
                <a:sym typeface="Inter"/>
              </a:rPr>
              <a:t>Shania K T Ruwende (R223747S)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2190750" y="2625179"/>
            <a:ext cx="78105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This research bridge</a:t>
            </a:r>
            <a:r>
              <a:rPr lang="en-US" sz="180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s Advanced Data Science with Practical Healthcare</a:t>
            </a:r>
            <a:r>
              <a:rPr lang="en-US" sz="180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. By addressing specificity (ADHF) and transparency (XAI), </a:t>
            </a:r>
            <a:r>
              <a:rPr lang="en-US" sz="180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the project </a:t>
            </a:r>
            <a:r>
              <a:rPr lang="en-US" sz="180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aims to deliver a trustworthy tool for clinicians.</a:t>
            </a:r>
            <a:endParaRPr/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000" y="4122241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666750" y="476250"/>
            <a:ext cx="114014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References</a:t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666750" y="1181100"/>
            <a:ext cx="108585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5619750" y="819150"/>
            <a:ext cx="952500" cy="3810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952500" y="329469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047750" y="3295650"/>
            <a:ext cx="10477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Mpofu, L. et al. (2024). </a:t>
            </a:r>
            <a:r>
              <a:rPr lang="en-US" sz="1350" b="0" i="1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Predicting Model for Hospital Readmission of Diabetic Patients</a:t>
            </a: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. IEOM Society International.</a:t>
            </a:r>
            <a:endParaRPr dirty="0"/>
          </a:p>
        </p:txBody>
      </p:sp>
      <p:sp>
        <p:nvSpPr>
          <p:cNvPr id="290" name="Google Shape;290;p23"/>
          <p:cNvSpPr txBox="1"/>
          <p:nvPr/>
        </p:nvSpPr>
        <p:spPr>
          <a:xfrm>
            <a:off x="952500" y="356898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047750" y="3569940"/>
            <a:ext cx="10477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Salih, A. M. et al. (2025). </a:t>
            </a:r>
            <a:r>
              <a:rPr lang="en-US" sz="1350" b="0" i="1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A Perspective on Explainable Artificial Intelligence Methods: SHAP and LIME</a:t>
            </a: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. Adv. </a:t>
            </a:r>
            <a:r>
              <a:rPr lang="en-US" sz="1350" b="0" i="0" u="none" strike="noStrike" cap="none" dirty="0" err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Intell</a:t>
            </a: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. Syst.</a:t>
            </a:r>
            <a:endParaRPr dirty="0"/>
          </a:p>
        </p:txBody>
      </p:sp>
      <p:sp>
        <p:nvSpPr>
          <p:cNvPr id="292" name="Google Shape;292;p23"/>
          <p:cNvSpPr txBox="1"/>
          <p:nvPr/>
        </p:nvSpPr>
        <p:spPr>
          <a:xfrm>
            <a:off x="952500" y="38432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1047750" y="3844225"/>
            <a:ext cx="10858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Zhao, S.-X. et al. (2020). </a:t>
            </a:r>
            <a:r>
              <a:rPr lang="en-US" sz="1350" b="0" i="1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A Novel Mixed Sampling Algorithm for Imbalanced Data Based on </a:t>
            </a:r>
            <a:r>
              <a:rPr lang="en-US" sz="1350" b="0" i="1" u="none" strike="noStrike" cap="none" dirty="0" err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. Wireless Sensor Networks.</a:t>
            </a:r>
            <a:endParaRPr dirty="0"/>
          </a:p>
        </p:txBody>
      </p:sp>
      <p:sp>
        <p:nvSpPr>
          <p:cNvPr id="294" name="Google Shape;294;p23"/>
          <p:cNvSpPr txBox="1"/>
          <p:nvPr/>
        </p:nvSpPr>
        <p:spPr>
          <a:xfrm>
            <a:off x="952500" y="41175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047750" y="4118520"/>
            <a:ext cx="10477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Chopera</a:t>
            </a: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, P. et al. (2021). </a:t>
            </a:r>
            <a:r>
              <a:rPr lang="en-US" sz="1350" b="0" i="1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Relationships of depression and anxiety to readmission rates...</a:t>
            </a: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 Afr. Health Sci.</a:t>
            </a:r>
            <a:endParaRPr dirty="0"/>
          </a:p>
        </p:txBody>
      </p:sp>
      <p:sp>
        <p:nvSpPr>
          <p:cNvPr id="296" name="Google Shape;296;p23"/>
          <p:cNvSpPr txBox="1"/>
          <p:nvPr/>
        </p:nvSpPr>
        <p:spPr>
          <a:xfrm>
            <a:off x="952500" y="43918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1047750" y="4391860"/>
            <a:ext cx="10477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Sabouri, M. et al. (2023). </a:t>
            </a:r>
            <a:r>
              <a:rPr lang="en-US" sz="1350" b="0" i="1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Machine learning based readmission... in heart failure patients</a:t>
            </a:r>
            <a:r>
              <a:rPr lang="en-US" sz="1350" b="0" i="0" u="none" strike="noStrike" cap="none" dirty="0">
                <a:solidFill>
                  <a:srgbClr val="2C3E50"/>
                </a:solidFill>
                <a:latin typeface="Inter"/>
                <a:ea typeface="Inter"/>
                <a:cs typeface="Inter"/>
                <a:sym typeface="Inter"/>
              </a:rPr>
              <a:t>. Sci. Rep.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7565</TotalTime>
  <Words>871</Words>
  <Application>Microsoft Office PowerPoint</Application>
  <PresentationFormat>Widescreen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Inter</vt:lpstr>
      <vt:lpstr>Calibri</vt:lpstr>
      <vt:lpstr>Arial</vt:lpstr>
      <vt:lpstr>Open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shania Ruwende</cp:lastModifiedBy>
  <cp:revision>3</cp:revision>
  <dcterms:modified xsi:type="dcterms:W3CDTF">2025-12-01T12:55:23Z</dcterms:modified>
</cp:coreProperties>
</file>